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Montserrat"/>
      <p:regular r:id="rId18"/>
      <p:bold r:id="rId19"/>
      <p:italic r:id="rId20"/>
      <p:boldItalic r:id="rId21"/>
    </p:embeddedFont>
    <p:embeddedFont>
      <p:font typeface="Lat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9E53FE-D75C-42DD-9794-2C5842C9F28D}">
  <a:tblStyle styleId="{419E53FE-D75C-42DD-9794-2C5842C9F2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italic.fntdata"/><Relationship Id="rId22" Type="http://schemas.openxmlformats.org/officeDocument/2006/relationships/font" Target="fonts/Lato-regular.fntdata"/><Relationship Id="rId21" Type="http://schemas.openxmlformats.org/officeDocument/2006/relationships/font" Target="fonts/Montserrat-boldItalic.fntdata"/><Relationship Id="rId24" Type="http://schemas.openxmlformats.org/officeDocument/2006/relationships/font" Target="fonts/Lato-italic.fntdata"/><Relationship Id="rId23" Type="http://schemas.openxmlformats.org/officeDocument/2006/relationships/font" Target="fonts/Lat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font" Target="fonts/Lat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19" Type="http://schemas.openxmlformats.org/officeDocument/2006/relationships/font" Target="fonts/Montserrat-bold.fntdata"/><Relationship Id="rId18" Type="http://schemas.openxmlformats.org/officeDocument/2006/relationships/font" Target="fonts/Montserrat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42e68f5207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42e68f5207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42f56b6638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42f56b663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430bbc768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430bbc768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439bf14e7b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439bf14e7b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430d777e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430d777e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430d777e65_0_4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430d777e65_0_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Laser Based Database :D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7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 Joshua Castaneda &amp; Douglas Goss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2860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613700" y="1578125"/>
            <a:ext cx="38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Crafter of laser engraved 19th century  Louisiana maps</a:t>
            </a:r>
            <a:endParaRPr sz="1800"/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7350" y="984025"/>
            <a:ext cx="4132274" cy="353084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4"/>
          <p:cNvSpPr/>
          <p:nvPr/>
        </p:nvSpPr>
        <p:spPr>
          <a:xfrm>
            <a:off x="289100" y="172425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4"/>
          <p:cNvSpPr txBox="1"/>
          <p:nvPr>
            <p:ph idx="1" type="body"/>
          </p:nvPr>
        </p:nvSpPr>
        <p:spPr>
          <a:xfrm>
            <a:off x="652800" y="2571750"/>
            <a:ext cx="38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Vendor to shops in Covington and New Orleans</a:t>
            </a:r>
            <a:endParaRPr sz="1800"/>
          </a:p>
        </p:txBody>
      </p:sp>
      <p:sp>
        <p:nvSpPr>
          <p:cNvPr id="145" name="Google Shape;145;p14"/>
          <p:cNvSpPr txBox="1"/>
          <p:nvPr>
            <p:ph idx="1" type="body"/>
          </p:nvPr>
        </p:nvSpPr>
        <p:spPr>
          <a:xfrm>
            <a:off x="652800" y="3565375"/>
            <a:ext cx="38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Volume of about 200 per year</a:t>
            </a:r>
            <a:endParaRPr sz="1800"/>
          </a:p>
        </p:txBody>
      </p:sp>
      <p:sp>
        <p:nvSpPr>
          <p:cNvPr id="146" name="Google Shape;146;p14"/>
          <p:cNvSpPr/>
          <p:nvPr/>
        </p:nvSpPr>
        <p:spPr>
          <a:xfrm>
            <a:off x="289100" y="263785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4"/>
          <p:cNvSpPr/>
          <p:nvPr/>
        </p:nvSpPr>
        <p:spPr>
          <a:xfrm>
            <a:off x="289100" y="365100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5"/>
          <p:cNvSpPr txBox="1"/>
          <p:nvPr>
            <p:ph type="title"/>
          </p:nvPr>
        </p:nvSpPr>
        <p:spPr>
          <a:xfrm>
            <a:off x="1297500" y="393750"/>
            <a:ext cx="7038900" cy="68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 Requirements/Data Sources</a:t>
            </a:r>
            <a:endParaRPr/>
          </a:p>
        </p:txBody>
      </p:sp>
      <p:sp>
        <p:nvSpPr>
          <p:cNvPr id="153" name="Google Shape;153;p15"/>
          <p:cNvSpPr txBox="1"/>
          <p:nvPr>
            <p:ph idx="1" type="body"/>
          </p:nvPr>
        </p:nvSpPr>
        <p:spPr>
          <a:xfrm>
            <a:off x="1377225" y="4119425"/>
            <a:ext cx="35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Tracking of sales</a:t>
            </a:r>
            <a:endParaRPr sz="1800"/>
          </a:p>
        </p:txBody>
      </p:sp>
      <p:sp>
        <p:nvSpPr>
          <p:cNvPr id="154" name="Google Shape;154;p15"/>
          <p:cNvSpPr/>
          <p:nvPr/>
        </p:nvSpPr>
        <p:spPr>
          <a:xfrm>
            <a:off x="1052625" y="426555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5"/>
          <p:cNvSpPr txBox="1"/>
          <p:nvPr>
            <p:ph idx="1" type="body"/>
          </p:nvPr>
        </p:nvSpPr>
        <p:spPr>
          <a:xfrm>
            <a:off x="1295800" y="1562300"/>
            <a:ext cx="25056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Product management</a:t>
            </a:r>
            <a:endParaRPr sz="1800"/>
          </a:p>
        </p:txBody>
      </p:sp>
      <p:sp>
        <p:nvSpPr>
          <p:cNvPr id="156" name="Google Shape;156;p15"/>
          <p:cNvSpPr/>
          <p:nvPr/>
        </p:nvSpPr>
        <p:spPr>
          <a:xfrm>
            <a:off x="971200" y="1708425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5"/>
          <p:cNvSpPr txBox="1"/>
          <p:nvPr>
            <p:ph idx="1" type="body"/>
          </p:nvPr>
        </p:nvSpPr>
        <p:spPr>
          <a:xfrm>
            <a:off x="1295800" y="2142525"/>
            <a:ext cx="33237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Product prices based on shop</a:t>
            </a:r>
            <a:endParaRPr sz="1800"/>
          </a:p>
        </p:txBody>
      </p:sp>
      <p:sp>
        <p:nvSpPr>
          <p:cNvPr id="158" name="Google Shape;158;p15"/>
          <p:cNvSpPr/>
          <p:nvPr/>
        </p:nvSpPr>
        <p:spPr>
          <a:xfrm>
            <a:off x="971200" y="228865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5"/>
          <p:cNvSpPr txBox="1"/>
          <p:nvPr>
            <p:ph idx="1" type="body"/>
          </p:nvPr>
        </p:nvSpPr>
        <p:spPr>
          <a:xfrm>
            <a:off x="1295800" y="2726925"/>
            <a:ext cx="35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Preferred materials and vendors</a:t>
            </a:r>
            <a:endParaRPr sz="1800"/>
          </a:p>
        </p:txBody>
      </p:sp>
      <p:sp>
        <p:nvSpPr>
          <p:cNvPr id="160" name="Google Shape;160;p15"/>
          <p:cNvSpPr/>
          <p:nvPr/>
        </p:nvSpPr>
        <p:spPr>
          <a:xfrm>
            <a:off x="971200" y="287305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5"/>
          <p:cNvSpPr txBox="1"/>
          <p:nvPr>
            <p:ph idx="1" type="body"/>
          </p:nvPr>
        </p:nvSpPr>
        <p:spPr>
          <a:xfrm>
            <a:off x="1295800" y="3307150"/>
            <a:ext cx="35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Generate invoices to accompany shipment</a:t>
            </a:r>
            <a:endParaRPr sz="1800"/>
          </a:p>
        </p:txBody>
      </p:sp>
      <p:sp>
        <p:nvSpPr>
          <p:cNvPr id="162" name="Google Shape;162;p15"/>
          <p:cNvSpPr/>
          <p:nvPr/>
        </p:nvSpPr>
        <p:spPr>
          <a:xfrm>
            <a:off x="971200" y="3453275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5"/>
          <p:cNvSpPr txBox="1"/>
          <p:nvPr>
            <p:ph idx="1" type="body"/>
          </p:nvPr>
        </p:nvSpPr>
        <p:spPr>
          <a:xfrm>
            <a:off x="6033375" y="1562300"/>
            <a:ext cx="25056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Past invoices</a:t>
            </a:r>
            <a:endParaRPr sz="1800"/>
          </a:p>
        </p:txBody>
      </p:sp>
      <p:sp>
        <p:nvSpPr>
          <p:cNvPr id="164" name="Google Shape;164;p15"/>
          <p:cNvSpPr/>
          <p:nvPr/>
        </p:nvSpPr>
        <p:spPr>
          <a:xfrm>
            <a:off x="5708775" y="1708425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5"/>
          <p:cNvSpPr txBox="1"/>
          <p:nvPr>
            <p:ph idx="1" type="body"/>
          </p:nvPr>
        </p:nvSpPr>
        <p:spPr>
          <a:xfrm>
            <a:off x="6033375" y="2142525"/>
            <a:ext cx="25056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Receipts</a:t>
            </a:r>
            <a:endParaRPr sz="1800"/>
          </a:p>
        </p:txBody>
      </p:sp>
      <p:sp>
        <p:nvSpPr>
          <p:cNvPr id="166" name="Google Shape;166;p15"/>
          <p:cNvSpPr/>
          <p:nvPr/>
        </p:nvSpPr>
        <p:spPr>
          <a:xfrm>
            <a:off x="5708775" y="228865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5"/>
          <p:cNvSpPr txBox="1"/>
          <p:nvPr>
            <p:ph idx="1" type="body"/>
          </p:nvPr>
        </p:nvSpPr>
        <p:spPr>
          <a:xfrm>
            <a:off x="6033375" y="2868875"/>
            <a:ext cx="25056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Mockaroo</a:t>
            </a:r>
            <a:endParaRPr sz="1800"/>
          </a:p>
        </p:txBody>
      </p:sp>
      <p:sp>
        <p:nvSpPr>
          <p:cNvPr id="168" name="Google Shape;168;p15"/>
          <p:cNvSpPr/>
          <p:nvPr/>
        </p:nvSpPr>
        <p:spPr>
          <a:xfrm>
            <a:off x="5708775" y="3015000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9" name="Google Shape;169;p15"/>
          <p:cNvCxnSpPr/>
          <p:nvPr/>
        </p:nvCxnSpPr>
        <p:spPr>
          <a:xfrm>
            <a:off x="5145675" y="1621950"/>
            <a:ext cx="0" cy="2878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Potential Relations and Attributes</a:t>
            </a:r>
            <a:endParaRPr/>
          </a:p>
        </p:txBody>
      </p:sp>
      <p:pic>
        <p:nvPicPr>
          <p:cNvPr id="175" name="Google Shape;1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60250"/>
            <a:ext cx="8247583" cy="353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52750" y="803850"/>
            <a:ext cx="5336826" cy="395347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6"/>
          <p:cNvSpPr txBox="1"/>
          <p:nvPr>
            <p:ph type="title"/>
          </p:nvPr>
        </p:nvSpPr>
        <p:spPr>
          <a:xfrm>
            <a:off x="1852750" y="144220"/>
            <a:ext cx="43866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Translate screenshots into prettier ppt tables that resemble the schema from the book.  Note the pk, fk and draw arcs btwn them.</a:t>
            </a:r>
            <a:endParaRPr sz="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"/>
          <p:cNvSpPr txBox="1"/>
          <p:nvPr>
            <p:ph type="title"/>
          </p:nvPr>
        </p:nvSpPr>
        <p:spPr>
          <a:xfrm>
            <a:off x="2378700" y="218400"/>
            <a:ext cx="4386600" cy="55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Relation Content Examples</a:t>
            </a:r>
            <a:endParaRPr/>
          </a:p>
        </p:txBody>
      </p:sp>
      <p:graphicFrame>
        <p:nvGraphicFramePr>
          <p:cNvPr id="183" name="Google Shape;183;p17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{419E53FE-D75C-42DD-9794-2C5842C9F28D}</a:tableStyleId>
              </a:tblPr>
              <a:tblGrid>
                <a:gridCol w="2419350"/>
              </a:tblGrid>
              <a:tr h="190500"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84" name="Google Shape;1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45625"/>
            <a:ext cx="8839199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575" y="3107400"/>
            <a:ext cx="7800975" cy="1485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7"/>
          <p:cNvSpPr txBox="1"/>
          <p:nvPr>
            <p:ph type="title"/>
          </p:nvPr>
        </p:nvSpPr>
        <p:spPr>
          <a:xfrm>
            <a:off x="2443425" y="719013"/>
            <a:ext cx="4386600" cy="55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Translate screenshots into prettier ppt tables.</a:t>
            </a:r>
            <a:endParaRPr sz="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				 Expected Timeline</a:t>
            </a:r>
            <a:endParaRPr/>
          </a:p>
        </p:txBody>
      </p:sp>
      <p:grpSp>
        <p:nvGrpSpPr>
          <p:cNvPr id="192" name="Google Shape;192;p18"/>
          <p:cNvGrpSpPr/>
          <p:nvPr/>
        </p:nvGrpSpPr>
        <p:grpSpPr>
          <a:xfrm>
            <a:off x="4513725" y="2382050"/>
            <a:ext cx="2281027" cy="1754375"/>
            <a:chOff x="4526675" y="2374924"/>
            <a:chExt cx="2281027" cy="1754375"/>
          </a:xfrm>
        </p:grpSpPr>
        <p:sp>
          <p:nvSpPr>
            <p:cNvPr id="193" name="Google Shape;193;p18"/>
            <p:cNvSpPr/>
            <p:nvPr/>
          </p:nvSpPr>
          <p:spPr>
            <a:xfrm>
              <a:off x="4849302" y="3079475"/>
              <a:ext cx="1958400" cy="133500"/>
            </a:xfrm>
            <a:prstGeom prst="rect">
              <a:avLst/>
            </a:prstGeom>
            <a:solidFill>
              <a:srgbClr val="0E94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4" name="Google Shape;194;p18"/>
            <p:cNvGrpSpPr/>
            <p:nvPr/>
          </p:nvGrpSpPr>
          <p:grpSpPr>
            <a:xfrm>
              <a:off x="4526675" y="2374924"/>
              <a:ext cx="1549800" cy="1754375"/>
              <a:chOff x="4526675" y="2374924"/>
              <a:chExt cx="1549800" cy="1754375"/>
            </a:xfrm>
          </p:grpSpPr>
          <p:grpSp>
            <p:nvGrpSpPr>
              <p:cNvPr id="195" name="Google Shape;195;p18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196" name="Google Shape;196;p18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00000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197" name="Google Shape;197;p18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98" name="Google Shape;198;p18"/>
              <p:cNvSpPr txBox="1"/>
              <p:nvPr/>
            </p:nvSpPr>
            <p:spPr>
              <a:xfrm>
                <a:off x="4526675" y="3303999"/>
                <a:ext cx="1549800" cy="82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lnSpc>
                    <a:spcPct val="115000"/>
                  </a:lnSpc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Thorough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testing with practical use and 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routine</a:t>
                </a:r>
                <a:endParaRPr b="1" sz="12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99" name="Google Shape;199;p18"/>
              <p:cNvSpPr txBox="1"/>
              <p:nvPr/>
            </p:nvSpPr>
            <p:spPr>
              <a:xfrm>
                <a:off x="4584950" y="2374924"/>
                <a:ext cx="1288800" cy="47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8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Weeks 5 &amp; 6 of  project</a:t>
                </a:r>
                <a:endParaRPr b="1" sz="8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00" name="Google Shape;200;p18"/>
          <p:cNvGrpSpPr/>
          <p:nvPr/>
        </p:nvGrpSpPr>
        <p:grpSpPr>
          <a:xfrm>
            <a:off x="6422850" y="2382050"/>
            <a:ext cx="2721150" cy="2063326"/>
            <a:chOff x="6435800" y="2374924"/>
            <a:chExt cx="2721150" cy="2063326"/>
          </a:xfrm>
        </p:grpSpPr>
        <p:sp>
          <p:nvSpPr>
            <p:cNvPr id="201" name="Google Shape;201;p18"/>
            <p:cNvSpPr/>
            <p:nvPr/>
          </p:nvSpPr>
          <p:spPr>
            <a:xfrm>
              <a:off x="6807650" y="3079475"/>
              <a:ext cx="2349300" cy="133500"/>
            </a:xfrm>
            <a:prstGeom prst="rect">
              <a:avLst/>
            </a:prstGeom>
            <a:solidFill>
              <a:srgbClr val="08563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2" name="Google Shape;202;p18"/>
            <p:cNvGrpSpPr/>
            <p:nvPr/>
          </p:nvGrpSpPr>
          <p:grpSpPr>
            <a:xfrm>
              <a:off x="6435800" y="2374924"/>
              <a:ext cx="2494573" cy="2063326"/>
              <a:chOff x="6435800" y="2374924"/>
              <a:chExt cx="2494573" cy="2063326"/>
            </a:xfrm>
          </p:grpSpPr>
          <p:grpSp>
            <p:nvGrpSpPr>
              <p:cNvPr id="203" name="Google Shape;203;p18"/>
              <p:cNvGrpSpPr/>
              <p:nvPr/>
            </p:nvGrpSpPr>
            <p:grpSpPr>
              <a:xfrm rot="10800000">
                <a:off x="6760035" y="3079467"/>
                <a:ext cx="92400" cy="411825"/>
                <a:chOff x="2070100" y="2563700"/>
                <a:chExt cx="92400" cy="411825"/>
              </a:xfrm>
            </p:grpSpPr>
            <p:cxnSp>
              <p:nvCxnSpPr>
                <p:cNvPr id="204" name="Google Shape;204;p18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00000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205" name="Google Shape;205;p18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06" name="Google Shape;206;p18"/>
              <p:cNvSpPr txBox="1"/>
              <p:nvPr/>
            </p:nvSpPr>
            <p:spPr>
              <a:xfrm>
                <a:off x="6435800" y="2374924"/>
                <a:ext cx="1247100" cy="69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lnSpc>
                    <a:spcPct val="115000"/>
                  </a:lnSpc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8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Weeks 7 &amp; 8 of project</a:t>
                </a:r>
                <a:endParaRPr b="1" sz="8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207" name="Google Shape;207;p18"/>
              <p:cNvSpPr txBox="1"/>
              <p:nvPr/>
            </p:nvSpPr>
            <p:spPr>
              <a:xfrm>
                <a:off x="6676773" y="3494450"/>
                <a:ext cx="2253600" cy="94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Final errors being 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dealt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with and overall 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polishing of finale product</a:t>
                </a:r>
                <a:r>
                  <a:rPr lang="en" sz="800">
                    <a:latin typeface="Roboto"/>
                    <a:ea typeface="Roboto"/>
                    <a:cs typeface="Roboto"/>
                    <a:sym typeface="Roboto"/>
                  </a:rPr>
                  <a:t>.</a:t>
                </a:r>
                <a:endParaRPr b="1" sz="800"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08" name="Google Shape;208;p18"/>
          <p:cNvGrpSpPr/>
          <p:nvPr/>
        </p:nvGrpSpPr>
        <p:grpSpPr>
          <a:xfrm>
            <a:off x="370225" y="2416975"/>
            <a:ext cx="2507825" cy="1795550"/>
            <a:chOff x="383175" y="2409849"/>
            <a:chExt cx="2507825" cy="1795550"/>
          </a:xfrm>
        </p:grpSpPr>
        <p:sp>
          <p:nvSpPr>
            <p:cNvPr id="209" name="Google Shape;209;p18"/>
            <p:cNvSpPr/>
            <p:nvPr/>
          </p:nvSpPr>
          <p:spPr>
            <a:xfrm>
              <a:off x="932600" y="3079475"/>
              <a:ext cx="1958400" cy="133500"/>
            </a:xfrm>
            <a:prstGeom prst="rect">
              <a:avLst/>
            </a:prstGeom>
            <a:solidFill>
              <a:srgbClr val="0E94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0" name="Google Shape;210;p18"/>
            <p:cNvGrpSpPr/>
            <p:nvPr/>
          </p:nvGrpSpPr>
          <p:grpSpPr>
            <a:xfrm>
              <a:off x="383175" y="2409849"/>
              <a:ext cx="1732350" cy="1795550"/>
              <a:chOff x="383175" y="2409849"/>
              <a:chExt cx="1732350" cy="1795550"/>
            </a:xfrm>
          </p:grpSpPr>
          <p:sp>
            <p:nvSpPr>
              <p:cNvPr id="211" name="Google Shape;211;p18"/>
              <p:cNvSpPr txBox="1"/>
              <p:nvPr/>
            </p:nvSpPr>
            <p:spPr>
              <a:xfrm>
                <a:off x="383175" y="3291299"/>
                <a:ext cx="1452900" cy="91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1. 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Outlining the database needs/parameters</a:t>
                </a:r>
                <a:endParaRPr b="1" sz="12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grpSp>
            <p:nvGrpSpPr>
              <p:cNvPr id="212" name="Google Shape;212;p18"/>
              <p:cNvGrpSpPr/>
              <p:nvPr/>
            </p:nvGrpSpPr>
            <p:grpSpPr>
              <a:xfrm>
                <a:off x="881025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213" name="Google Shape;213;p18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00000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214" name="Google Shape;214;p18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15" name="Google Shape;215;p18"/>
              <p:cNvSpPr txBox="1"/>
              <p:nvPr/>
            </p:nvSpPr>
            <p:spPr>
              <a:xfrm>
                <a:off x="823125" y="2409849"/>
                <a:ext cx="1292400" cy="39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8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Week 1 &amp; 2 of project</a:t>
                </a:r>
                <a:endParaRPr b="1" sz="8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16" name="Google Shape;216;p18"/>
          <p:cNvGrpSpPr/>
          <p:nvPr/>
        </p:nvGrpSpPr>
        <p:grpSpPr>
          <a:xfrm>
            <a:off x="2465875" y="2416975"/>
            <a:ext cx="2377502" cy="2028400"/>
            <a:chOff x="2471850" y="2409849"/>
            <a:chExt cx="2377502" cy="2028400"/>
          </a:xfrm>
        </p:grpSpPr>
        <p:sp>
          <p:nvSpPr>
            <p:cNvPr id="217" name="Google Shape;217;p18"/>
            <p:cNvSpPr/>
            <p:nvPr/>
          </p:nvSpPr>
          <p:spPr>
            <a:xfrm>
              <a:off x="2890952" y="3079475"/>
              <a:ext cx="1958400" cy="133500"/>
            </a:xfrm>
            <a:prstGeom prst="rect">
              <a:avLst/>
            </a:prstGeom>
            <a:solidFill>
              <a:srgbClr val="08563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8" name="Google Shape;218;p18"/>
            <p:cNvGrpSpPr/>
            <p:nvPr/>
          </p:nvGrpSpPr>
          <p:grpSpPr>
            <a:xfrm>
              <a:off x="2471850" y="2409849"/>
              <a:ext cx="1858200" cy="2028400"/>
              <a:chOff x="2471850" y="2409849"/>
              <a:chExt cx="1858200" cy="2028400"/>
            </a:xfrm>
          </p:grpSpPr>
          <p:sp>
            <p:nvSpPr>
              <p:cNvPr id="219" name="Google Shape;219;p18"/>
              <p:cNvSpPr txBox="1"/>
              <p:nvPr/>
            </p:nvSpPr>
            <p:spPr>
              <a:xfrm>
                <a:off x="2522375" y="2409849"/>
                <a:ext cx="1213800" cy="48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lnSpc>
                    <a:spcPct val="115000"/>
                  </a:lnSpc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8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Week 3 &amp; 4 of project </a:t>
                </a:r>
                <a:endParaRPr b="1" sz="8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grpSp>
            <p:nvGrpSpPr>
              <p:cNvPr id="220" name="Google Shape;220;p18"/>
              <p:cNvGrpSpPr/>
              <p:nvPr/>
            </p:nvGrpSpPr>
            <p:grpSpPr>
              <a:xfrm rot="10800000">
                <a:off x="2849073" y="3079467"/>
                <a:ext cx="92400" cy="411825"/>
                <a:chOff x="2070100" y="2563700"/>
                <a:chExt cx="92400" cy="411825"/>
              </a:xfrm>
            </p:grpSpPr>
            <p:cxnSp>
              <p:nvCxnSpPr>
                <p:cNvPr id="221" name="Google Shape;221;p18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00000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222" name="Google Shape;222;p18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23" name="Google Shape;223;p18"/>
              <p:cNvSpPr txBox="1"/>
              <p:nvPr/>
            </p:nvSpPr>
            <p:spPr>
              <a:xfrm>
                <a:off x="2471850" y="3494449"/>
                <a:ext cx="1858200" cy="94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1600"/>
                  </a:spcAft>
                  <a:buNone/>
                </a:pP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Early 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implementation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and testing of 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database</a:t>
                </a:r>
                <a:r>
                  <a:rPr b="1" lang="en" sz="1200">
                    <a:solidFill>
                      <a:srgbClr val="FFFF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systems</a:t>
                </a:r>
                <a:endParaRPr b="1" sz="1200">
                  <a:solidFill>
                    <a:srgbClr val="FFFF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sp>
        <p:nvSpPr>
          <p:cNvPr id="224" name="Google Shape;224;p18"/>
          <p:cNvSpPr txBox="1"/>
          <p:nvPr>
            <p:ph type="title"/>
          </p:nvPr>
        </p:nvSpPr>
        <p:spPr>
          <a:xfrm>
            <a:off x="1648175" y="1415495"/>
            <a:ext cx="43866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Increase font size.  Change text color to white.</a:t>
            </a:r>
            <a:endParaRPr sz="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457200" lvl="0" marL="18288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Roles</a:t>
            </a:r>
            <a:endParaRPr/>
          </a:p>
        </p:txBody>
      </p:sp>
      <p:sp>
        <p:nvSpPr>
          <p:cNvPr id="230" name="Google Shape;230;p19"/>
          <p:cNvSpPr txBox="1"/>
          <p:nvPr>
            <p:ph idx="1" type="body"/>
          </p:nvPr>
        </p:nvSpPr>
        <p:spPr>
          <a:xfrm>
            <a:off x="1242200" y="1401625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As of now, we plan on simply splitting the work 50/50. 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Though once we get more into the specifics (more </a:t>
            </a:r>
            <a:r>
              <a:rPr lang="en" sz="1400"/>
              <a:t>likely</a:t>
            </a:r>
            <a:r>
              <a:rPr lang="en" sz="1400"/>
              <a:t> the specific problems) then we’ll </a:t>
            </a:r>
            <a:r>
              <a:rPr lang="en" sz="1400"/>
              <a:t>delegate</a:t>
            </a:r>
            <a:r>
              <a:rPr lang="en" sz="1400"/>
              <a:t> between ourselves accordingly. 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But as for now...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50/50 sounds pretty fair.</a:t>
            </a:r>
            <a:endParaRPr sz="1400"/>
          </a:p>
        </p:txBody>
      </p:sp>
      <p:sp>
        <p:nvSpPr>
          <p:cNvPr id="231" name="Google Shape;231;p19"/>
          <p:cNvSpPr txBox="1"/>
          <p:nvPr>
            <p:ph idx="1" type="body"/>
          </p:nvPr>
        </p:nvSpPr>
        <p:spPr>
          <a:xfrm>
            <a:off x="5070425" y="2440250"/>
            <a:ext cx="3843000" cy="58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/>
              <a:t>Goss primarily determines needs as the client</a:t>
            </a:r>
            <a:endParaRPr sz="1800"/>
          </a:p>
        </p:txBody>
      </p:sp>
      <p:sp>
        <p:nvSpPr>
          <p:cNvPr id="232" name="Google Shape;232;p19"/>
          <p:cNvSpPr/>
          <p:nvPr/>
        </p:nvSpPr>
        <p:spPr>
          <a:xfrm>
            <a:off x="4745825" y="2586375"/>
            <a:ext cx="223200" cy="223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9"/>
          <p:cNvSpPr txBox="1"/>
          <p:nvPr>
            <p:ph type="title"/>
          </p:nvPr>
        </p:nvSpPr>
        <p:spPr>
          <a:xfrm>
            <a:off x="2144975" y="969745"/>
            <a:ext cx="43866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Increase font size.  Add green bullets.  Add goss primarily.</a:t>
            </a:r>
            <a:endParaRPr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